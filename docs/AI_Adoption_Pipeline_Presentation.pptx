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6"/>
  </p:normalViewPr>
  <p:slideViewPr>
    <p:cSldViewPr>
      <p:cViewPr varScale="1">
        <p:scale>
          <a:sx n="140" d="100"/>
          <a:sy n="140" d="100"/>
        </p:scale>
        <p:origin x="84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0525" y="271284"/>
            <a:ext cx="44475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7501" y="1071507"/>
            <a:ext cx="2926079" cy="2889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008365" y="931340"/>
            <a:ext cx="3390900" cy="3032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10627"/>
            <a:ext cx="9144000" cy="233045"/>
          </a:xfrm>
          <a:custGeom>
            <a:avLst/>
            <a:gdLst/>
            <a:ahLst/>
            <a:cxnLst/>
            <a:rect l="l" t="t" r="r" b="b"/>
            <a:pathLst>
              <a:path w="9144000" h="233045">
                <a:moveTo>
                  <a:pt x="9143999" y="232799"/>
                </a:moveTo>
                <a:lnTo>
                  <a:pt x="0" y="232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232799"/>
                </a:lnTo>
                <a:close/>
              </a:path>
            </a:pathLst>
          </a:custGeom>
          <a:solidFill>
            <a:srgbClr val="C51A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0525" y="151558"/>
            <a:ext cx="5892800" cy="7548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3476" y="994655"/>
            <a:ext cx="6026784" cy="3400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643888" y="4958095"/>
            <a:ext cx="2444750" cy="111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3/15/26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656588" y="4970795"/>
            <a:ext cx="2419350" cy="857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65"/>
              </a:lnSpc>
            </a:pP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Copyright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©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2024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Nanyang</a:t>
            </a:r>
            <a:r>
              <a:rPr sz="600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Technological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University.</a:t>
            </a:r>
            <a:r>
              <a:rPr sz="600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FFFFFF"/>
                </a:solidFill>
                <a:latin typeface="Arial"/>
                <a:cs typeface="Arial"/>
              </a:rPr>
              <a:t>rights</a:t>
            </a:r>
            <a:r>
              <a:rPr sz="600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Arial"/>
                <a:cs typeface="Arial"/>
              </a:rPr>
              <a:t>reserved.</a:t>
            </a:r>
            <a:endParaRPr sz="6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4135"/>
            <a:chOff x="0" y="0"/>
            <a:chExt cx="9144000" cy="514413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9240" y="0"/>
              <a:ext cx="4514759" cy="51435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629239" y="4339243"/>
              <a:ext cx="4514850" cy="804545"/>
            </a:xfrm>
            <a:custGeom>
              <a:avLst/>
              <a:gdLst/>
              <a:ahLst/>
              <a:cxnLst/>
              <a:rect l="l" t="t" r="r" b="b"/>
              <a:pathLst>
                <a:path w="4514850" h="804545">
                  <a:moveTo>
                    <a:pt x="0" y="804278"/>
                  </a:moveTo>
                  <a:lnTo>
                    <a:pt x="0" y="0"/>
                  </a:lnTo>
                  <a:lnTo>
                    <a:pt x="4514759" y="0"/>
                  </a:lnTo>
                  <a:lnTo>
                    <a:pt x="4514759" y="804299"/>
                  </a:lnTo>
                  <a:lnTo>
                    <a:pt x="0" y="804278"/>
                  </a:lnTo>
                  <a:close/>
                </a:path>
              </a:pathLst>
            </a:custGeom>
            <a:solidFill>
              <a:srgbClr val="181B6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42900" y="4339243"/>
              <a:ext cx="4286885" cy="804545"/>
            </a:xfrm>
            <a:custGeom>
              <a:avLst/>
              <a:gdLst/>
              <a:ahLst/>
              <a:cxnLst/>
              <a:rect l="l" t="t" r="r" b="b"/>
              <a:pathLst>
                <a:path w="4286885" h="804545">
                  <a:moveTo>
                    <a:pt x="0" y="804299"/>
                  </a:moveTo>
                  <a:lnTo>
                    <a:pt x="4286399" y="804299"/>
                  </a:lnTo>
                  <a:lnTo>
                    <a:pt x="4286399" y="0"/>
                  </a:lnTo>
                  <a:lnTo>
                    <a:pt x="0" y="0"/>
                  </a:lnTo>
                  <a:lnTo>
                    <a:pt x="0" y="804299"/>
                  </a:lnTo>
                  <a:close/>
                </a:path>
              </a:pathLst>
            </a:custGeom>
            <a:solidFill>
              <a:srgbClr val="181B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0"/>
              <a:ext cx="342900" cy="5143500"/>
            </a:xfrm>
            <a:custGeom>
              <a:avLst/>
              <a:gdLst/>
              <a:ahLst/>
              <a:cxnLst/>
              <a:rect l="l" t="t" r="r" b="b"/>
              <a:pathLst>
                <a:path w="342900" h="5143500">
                  <a:moveTo>
                    <a:pt x="342899" y="5143499"/>
                  </a:moveTo>
                  <a:lnTo>
                    <a:pt x="0" y="5143499"/>
                  </a:lnTo>
                  <a:lnTo>
                    <a:pt x="0" y="0"/>
                  </a:lnTo>
                  <a:lnTo>
                    <a:pt x="342899" y="0"/>
                  </a:lnTo>
                  <a:lnTo>
                    <a:pt x="342899" y="5143499"/>
                  </a:lnTo>
                  <a:close/>
                </a:path>
              </a:pathLst>
            </a:custGeom>
            <a:solidFill>
              <a:srgbClr val="C51A4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1295" y="408657"/>
              <a:ext cx="3146709" cy="572128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41295" y="1352550"/>
            <a:ext cx="3271514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110" dirty="0">
                <a:solidFill>
                  <a:srgbClr val="181B62"/>
                </a:solidFill>
                <a:latin typeface="Arial Black"/>
                <a:cs typeface="Arial Black"/>
              </a:rPr>
              <a:t>AI Adoption &amp; Workforce Impact Data Pipeline</a:t>
            </a:r>
            <a:endParaRPr sz="2400" dirty="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2057400" y="1645793"/>
            <a:ext cx="6705599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3000"/>
              </a:lnSpc>
              <a:buNone/>
            </a:pPr>
            <a:r>
              <a:rPr sz="3600" b="1" spc="-10" dirty="0">
                <a:solidFill>
                  <a:srgbClr val="FFFFFF"/>
                </a:solidFill>
                <a:latin typeface="Calibri"/>
              </a:rPr>
              <a:t>AI Adoption &amp; Workforce Impact</a:t>
            </a:r>
          </a:p>
          <a:p>
            <a:pPr>
              <a:lnSpc>
                <a:spcPts val="2400"/>
              </a:lnSpc>
              <a:buNone/>
            </a:pPr>
            <a:r>
              <a:rPr sz="2000" spc="-10" dirty="0">
                <a:solidFill>
                  <a:srgbClr val="F5A623"/>
                </a:solidFill>
                <a:latin typeface="Calibri"/>
              </a:rPr>
              <a:t>Data Pipeline Project — Executive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30525" y="271284"/>
            <a:ext cx="13138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Agenda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21349" y="994655"/>
            <a:ext cx="3870960" cy="339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Dataset Overview: Global AI Adoption &amp; Workforce Impact</a:t>
            </a:r>
          </a:p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Technical Architecture: BigQuery + dbt + Python</a:t>
            </a:r>
          </a:p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Star Schema Design &amp; Justification</a:t>
            </a:r>
          </a:p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Data Pipeline: Ingestion → Staging → Marts</a:t>
            </a:r>
          </a:p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Data Quality Testing: dbt + Custom SQL + Great Expectations</a:t>
            </a:r>
          </a:p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Key Findings &amp; Business Insights</a:t>
            </a:r>
          </a:p>
          <a:p>
            <a:pPr marL="342900" indent="-342900">
              <a:lnSpc>
                <a:spcPts val="2200"/>
              </a:lnSpc>
              <a:buChar char="•"/>
            </a:pPr>
            <a:r>
              <a:rPr sz="1600" spc="-10" dirty="0">
                <a:solidFill>
                  <a:srgbClr val="333333"/>
                </a:solidFill>
                <a:latin typeface="Calibri"/>
              </a:rPr>
              <a:t>Business Recommendations &amp; Risk Mitigation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1052325"/>
            <a:ext cx="0" cy="3390900"/>
          </a:xfrm>
          <a:custGeom>
            <a:avLst/>
            <a:gdLst/>
            <a:ahLst/>
            <a:cxnLst/>
            <a:rect l="l" t="t" r="r" b="b"/>
            <a:pathLst>
              <a:path h="3390900">
                <a:moveTo>
                  <a:pt x="0" y="0"/>
                </a:moveTo>
                <a:lnTo>
                  <a:pt x="0" y="3390899"/>
                </a:lnTo>
              </a:path>
            </a:pathLst>
          </a:custGeom>
          <a:ln w="9524">
            <a:solidFill>
              <a:srgbClr val="C51A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04848" y="484766"/>
            <a:ext cx="1628751" cy="2700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2200" b="1" spc="-10" dirty="0">
                <a:solidFill>
                  <a:srgbClr val="C51A41"/>
                </a:solidFill>
                <a:latin typeface="Calibri"/>
              </a:rPr>
              <a:t>The Problem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Companies worldwide are investing heavily in AI, but lack visibility into whether that investment generates real value — in revenue, productivity, or workforce impact.</a:t>
            </a:r>
          </a:p>
          <a:p>
            <a:pPr>
              <a:lnSpc>
                <a:spcPts val="19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This project builds a complete analytics pipeline to answer:</a:t>
            </a:r>
          </a:p>
          <a:p>
            <a:pPr>
              <a:lnSpc>
                <a:spcPts val="1900"/>
              </a:lnSpc>
              <a:buNone/>
            </a:pPr>
            <a:r>
              <a:rPr sz="1400" b="1" spc="-10" dirty="0">
                <a:solidFill>
                  <a:srgbClr val="181B62"/>
                </a:solidFill>
                <a:latin typeface="Calibri"/>
              </a:rPr>
              <a:t>Which companies benefit most from AI, and how?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113575" y="484665"/>
            <a:ext cx="2571750" cy="4248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2200" b="1" spc="-10" dirty="0">
                <a:solidFill>
                  <a:srgbClr val="181B62"/>
                </a:solidFill>
                <a:latin typeface="Calibri"/>
              </a:rPr>
              <a:t>Our Solution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5256226" y="1033864"/>
            <a:ext cx="3138805" cy="299212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End-to-end pipeline: CSV → BigQuery → dbt → Analysis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Star schema with 6 dimensions + 1 fact table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25+ data quality tests across 4 categories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5 KPI analyses with actionable business insights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Pipeline 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2400" y="1186905"/>
            <a:ext cx="2621460" cy="358681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2900" indent="-34290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181B62"/>
                </a:solidFill>
                <a:latin typeface="Calibri"/>
              </a:rPr>
              <a:t>1. Ingestion   — Python script loads 3 CSV files into BigQuery (ai_adoption_raw)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181B62"/>
                </a:solidFill>
                <a:latin typeface="Calibri"/>
              </a:rPr>
              <a:t>2. Staging</a:t>
            </a:r>
            <a:r>
              <a:rPr lang="en-US" sz="1400" spc="-10" dirty="0">
                <a:solidFill>
                  <a:srgbClr val="181B62"/>
                </a:solidFill>
                <a:latin typeface="Calibri"/>
              </a:rPr>
              <a:t> </a:t>
            </a:r>
            <a:r>
              <a:rPr sz="1400" spc="-10" dirty="0">
                <a:solidFill>
                  <a:srgbClr val="181B62"/>
                </a:solidFill>
                <a:latin typeface="Calibri"/>
              </a:rPr>
              <a:t>— dbt views clean and standardize raw tables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181B62"/>
                </a:solidFill>
                <a:latin typeface="Calibri"/>
              </a:rPr>
              <a:t>3. Marts — dbt transforms data into Star Schema (6 dims + 1 fact)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181B62"/>
                </a:solidFill>
                <a:latin typeface="Calibri"/>
              </a:rPr>
              <a:t>4. Testing — dbt schema tests + Custom SQL + Great Expectations</a:t>
            </a:r>
          </a:p>
          <a:p>
            <a:pPr marL="342900" indent="-34290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181B62"/>
                </a:solidFill>
                <a:latin typeface="Calibri"/>
              </a:rPr>
              <a:t>5. Analysis — Jupyter Notebook connects via BigQuery client for EDA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3860" y="1324600"/>
            <a:ext cx="6209014" cy="31377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1052325"/>
            <a:ext cx="0" cy="3390900"/>
          </a:xfrm>
          <a:custGeom>
            <a:avLst/>
            <a:gdLst/>
            <a:ahLst/>
            <a:cxnLst/>
            <a:rect l="l" t="t" r="r" b="b"/>
            <a:pathLst>
              <a:path h="3390900">
                <a:moveTo>
                  <a:pt x="0" y="0"/>
                </a:moveTo>
                <a:lnTo>
                  <a:pt x="0" y="3390899"/>
                </a:lnTo>
              </a:path>
            </a:pathLst>
          </a:custGeom>
          <a:ln w="9524">
            <a:solidFill>
              <a:srgbClr val="C51A4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430525" y="151558"/>
            <a:ext cx="37668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2800" b="1" spc="-10" dirty="0">
                <a:solidFill>
                  <a:srgbClr val="181B62"/>
                </a:solidFill>
                <a:latin typeface="Calibri"/>
              </a:rPr>
              <a:t>Star Schema Design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11077" y="738157"/>
            <a:ext cx="3594735" cy="3883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600" b="1" spc="-10" dirty="0">
                <a:solidFill>
                  <a:srgbClr val="C51A41"/>
                </a:solidFill>
                <a:latin typeface="Calibri"/>
              </a:rPr>
              <a:t>FactAISurvey (Core)</a:t>
            </a:r>
          </a:p>
          <a:p>
            <a:pPr>
              <a:lnSpc>
                <a:spcPts val="19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FK: company, date, ai_tool,</a:t>
            </a:r>
          </a:p>
          <a:p>
            <a:pPr>
              <a:lnSpc>
                <a:spcPts val="19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     usecase, stage, source</a:t>
            </a:r>
          </a:p>
          <a:p>
            <a:pPr>
              <a:lnSpc>
                <a:spcPts val="1900"/>
              </a:lnSpc>
              <a:buNone/>
            </a:pPr>
            <a:r>
              <a:rPr sz="1300" b="1" spc="-10" dirty="0">
                <a:solidFill>
                  <a:srgbClr val="555555"/>
                </a:solidFill>
                <a:latin typeface="Calibri"/>
              </a:rPr>
              <a:t>Measures: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revenue_growth_percent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productivity_change_percent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task_automation_rate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jobs_displaced / jobs_created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C51A41"/>
                </a:solidFill>
                <a:latin typeface="Calibri"/>
              </a:rPr>
              <a:t>net_jobs_change (derived)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C51A41"/>
                </a:solidFill>
                <a:latin typeface="Calibri"/>
              </a:rPr>
              <a:t>ai_roi_index (derived)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61355" y="738157"/>
            <a:ext cx="3551554" cy="3637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600" b="1" spc="-10" dirty="0">
                <a:solidFill>
                  <a:srgbClr val="181B62"/>
                </a:solidFill>
                <a:latin typeface="Calibri"/>
              </a:rPr>
              <a:t>6 Dimension Tables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DimCompany — size, industry, country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DimDate — year, quarter, year_quarter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DimAITool — tool name, vendor category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DimAIUseCase — use case, category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DimAIAdoptionStage — stage order/label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DimSurveySource — source, method</a:t>
            </a:r>
          </a:p>
          <a:p>
            <a:pPr>
              <a:lnSpc>
                <a:spcPts val="1900"/>
              </a:lnSpc>
              <a:buNone/>
            </a:pPr>
            <a:r>
              <a:rPr sz="1400" b="1" spc="-10" dirty="0">
                <a:solidFill>
                  <a:srgbClr val="181B62"/>
                </a:solidFill>
                <a:latin typeface="Calibri"/>
              </a:rPr>
              <a:t>Why Star Schema?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Fast GROUP BY queries in BigQuery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Easy for BI analysts to understand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Dimensions reusable across future facts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93185" y="757174"/>
            <a:ext cx="3960495" cy="3449320"/>
            <a:chOff x="433822" y="804775"/>
            <a:chExt cx="3960495" cy="3449320"/>
          </a:xfrm>
        </p:grpSpPr>
        <p:sp>
          <p:nvSpPr>
            <p:cNvPr id="4" name="object 4"/>
            <p:cNvSpPr/>
            <p:nvPr/>
          </p:nvSpPr>
          <p:spPr>
            <a:xfrm>
              <a:off x="433822" y="804775"/>
              <a:ext cx="3960495" cy="3449320"/>
            </a:xfrm>
            <a:custGeom>
              <a:avLst/>
              <a:gdLst/>
              <a:ahLst/>
              <a:cxnLst/>
              <a:rect l="l" t="t" r="r" b="b"/>
              <a:pathLst>
                <a:path w="3960495" h="3449320">
                  <a:moveTo>
                    <a:pt x="3583461" y="3449099"/>
                  </a:moveTo>
                  <a:lnTo>
                    <a:pt x="376538" y="3449099"/>
                  </a:lnTo>
                  <a:lnTo>
                    <a:pt x="329306" y="3446166"/>
                  </a:lnTo>
                  <a:lnTo>
                    <a:pt x="283824" y="3437600"/>
                  </a:lnTo>
                  <a:lnTo>
                    <a:pt x="240446" y="3423754"/>
                  </a:lnTo>
                  <a:lnTo>
                    <a:pt x="199525" y="3404982"/>
                  </a:lnTo>
                  <a:lnTo>
                    <a:pt x="161413" y="3381636"/>
                  </a:lnTo>
                  <a:lnTo>
                    <a:pt x="126464" y="3354070"/>
                  </a:lnTo>
                  <a:lnTo>
                    <a:pt x="95029" y="3322635"/>
                  </a:lnTo>
                  <a:lnTo>
                    <a:pt x="67463" y="3287686"/>
                  </a:lnTo>
                  <a:lnTo>
                    <a:pt x="44117" y="3249574"/>
                  </a:lnTo>
                  <a:lnTo>
                    <a:pt x="25345" y="3208652"/>
                  </a:lnTo>
                  <a:lnTo>
                    <a:pt x="11499" y="3165275"/>
                  </a:lnTo>
                  <a:lnTo>
                    <a:pt x="2933" y="3119793"/>
                  </a:lnTo>
                  <a:lnTo>
                    <a:pt x="0" y="3072561"/>
                  </a:lnTo>
                  <a:lnTo>
                    <a:pt x="0" y="376538"/>
                  </a:lnTo>
                  <a:lnTo>
                    <a:pt x="2933" y="329306"/>
                  </a:lnTo>
                  <a:lnTo>
                    <a:pt x="11499" y="283824"/>
                  </a:lnTo>
                  <a:lnTo>
                    <a:pt x="25345" y="240446"/>
                  </a:lnTo>
                  <a:lnTo>
                    <a:pt x="44117" y="199525"/>
                  </a:lnTo>
                  <a:lnTo>
                    <a:pt x="67463" y="161413"/>
                  </a:lnTo>
                  <a:lnTo>
                    <a:pt x="95029" y="126464"/>
                  </a:lnTo>
                  <a:lnTo>
                    <a:pt x="126464" y="95029"/>
                  </a:lnTo>
                  <a:lnTo>
                    <a:pt x="161413" y="67463"/>
                  </a:lnTo>
                  <a:lnTo>
                    <a:pt x="199525" y="44117"/>
                  </a:lnTo>
                  <a:lnTo>
                    <a:pt x="240446" y="25345"/>
                  </a:lnTo>
                  <a:lnTo>
                    <a:pt x="283824" y="11499"/>
                  </a:lnTo>
                  <a:lnTo>
                    <a:pt x="329306" y="2933"/>
                  </a:lnTo>
                  <a:lnTo>
                    <a:pt x="376538" y="0"/>
                  </a:lnTo>
                  <a:lnTo>
                    <a:pt x="3583461" y="0"/>
                  </a:lnTo>
                  <a:lnTo>
                    <a:pt x="3632955" y="3265"/>
                  </a:lnTo>
                  <a:lnTo>
                    <a:pt x="3681182" y="12900"/>
                  </a:lnTo>
                  <a:lnTo>
                    <a:pt x="3727556" y="28662"/>
                  </a:lnTo>
                  <a:lnTo>
                    <a:pt x="3771493" y="50308"/>
                  </a:lnTo>
                  <a:lnTo>
                    <a:pt x="3812408" y="77597"/>
                  </a:lnTo>
                  <a:lnTo>
                    <a:pt x="3849714" y="110285"/>
                  </a:lnTo>
                  <a:lnTo>
                    <a:pt x="3882402" y="147591"/>
                  </a:lnTo>
                  <a:lnTo>
                    <a:pt x="3909691" y="188506"/>
                  </a:lnTo>
                  <a:lnTo>
                    <a:pt x="3931337" y="232443"/>
                  </a:lnTo>
                  <a:lnTo>
                    <a:pt x="3947099" y="278817"/>
                  </a:lnTo>
                  <a:lnTo>
                    <a:pt x="3956734" y="327044"/>
                  </a:lnTo>
                  <a:lnTo>
                    <a:pt x="3959999" y="376538"/>
                  </a:lnTo>
                  <a:lnTo>
                    <a:pt x="3959999" y="3072561"/>
                  </a:lnTo>
                  <a:lnTo>
                    <a:pt x="3957066" y="3119793"/>
                  </a:lnTo>
                  <a:lnTo>
                    <a:pt x="3948500" y="3165275"/>
                  </a:lnTo>
                  <a:lnTo>
                    <a:pt x="3934654" y="3208652"/>
                  </a:lnTo>
                  <a:lnTo>
                    <a:pt x="3915882" y="3249574"/>
                  </a:lnTo>
                  <a:lnTo>
                    <a:pt x="3892536" y="3287686"/>
                  </a:lnTo>
                  <a:lnTo>
                    <a:pt x="3864970" y="3322635"/>
                  </a:lnTo>
                  <a:lnTo>
                    <a:pt x="3833535" y="3354070"/>
                  </a:lnTo>
                  <a:lnTo>
                    <a:pt x="3798586" y="3381636"/>
                  </a:lnTo>
                  <a:lnTo>
                    <a:pt x="3760474" y="3404982"/>
                  </a:lnTo>
                  <a:lnTo>
                    <a:pt x="3719552" y="3423754"/>
                  </a:lnTo>
                  <a:lnTo>
                    <a:pt x="3676175" y="3437600"/>
                  </a:lnTo>
                  <a:lnTo>
                    <a:pt x="3630693" y="3446166"/>
                  </a:lnTo>
                  <a:lnTo>
                    <a:pt x="3583461" y="3449099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753814" y="931315"/>
            <a:ext cx="2598986" cy="25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800" b="1" spc="-10" dirty="0">
                <a:solidFill>
                  <a:srgbClr val="181B62"/>
                </a:solidFill>
                <a:latin typeface="Calibri"/>
              </a:rPr>
              <a:t>dbt Tests (schema.yml)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53814" y="1337207"/>
            <a:ext cx="3001010" cy="2501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Structural validation on all tables: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unique + not_null on all PKs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relationships (FK) on all fact FKs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accepted_values on categorical fields</a:t>
            </a:r>
          </a:p>
          <a:p>
            <a:pPr>
              <a:lnSpc>
                <a:spcPts val="1900"/>
              </a:lnSpc>
              <a:buNone/>
            </a:pPr>
            <a:r>
              <a:rPr sz="1200" spc="-10" dirty="0">
                <a:solidFill>
                  <a:srgbClr val="777777"/>
                </a:solidFill>
                <a:latin typeface="Calibri"/>
              </a:rPr>
              <a:t>(quarter, adoption_stage, company_size)</a:t>
            </a:r>
          </a:p>
          <a:p>
            <a:pPr>
              <a:lnSpc>
                <a:spcPts val="1900"/>
              </a:lnSpc>
              <a:buNone/>
            </a:pPr>
            <a:r>
              <a:rPr sz="1300" b="1" spc="-10" dirty="0">
                <a:solidFill>
                  <a:srgbClr val="181B62"/>
                </a:solidFill>
                <a:latin typeface="Calibri"/>
              </a:rPr>
              <a:t>Custom SQL Tests (Notebook):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6 null checks across all tables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5 duplicate checks on all PKs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6 referential integrity (FK) checks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8 business logic / value range checks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4448562" y="576200"/>
            <a:ext cx="4502785" cy="4187190"/>
            <a:chOff x="4448562" y="576200"/>
            <a:chExt cx="4502785" cy="4187190"/>
          </a:xfrm>
        </p:grpSpPr>
        <p:sp>
          <p:nvSpPr>
            <p:cNvPr id="10" name="object 10"/>
            <p:cNvSpPr/>
            <p:nvPr/>
          </p:nvSpPr>
          <p:spPr>
            <a:xfrm>
              <a:off x="4677162" y="757174"/>
              <a:ext cx="4045585" cy="3449320"/>
            </a:xfrm>
            <a:custGeom>
              <a:avLst/>
              <a:gdLst/>
              <a:ahLst/>
              <a:cxnLst/>
              <a:rect l="l" t="t" r="r" b="b"/>
              <a:pathLst>
                <a:path w="4045584" h="3449320">
                  <a:moveTo>
                    <a:pt x="3668661" y="3449099"/>
                  </a:moveTo>
                  <a:lnTo>
                    <a:pt x="376538" y="3449099"/>
                  </a:lnTo>
                  <a:lnTo>
                    <a:pt x="329306" y="3446166"/>
                  </a:lnTo>
                  <a:lnTo>
                    <a:pt x="283824" y="3437600"/>
                  </a:lnTo>
                  <a:lnTo>
                    <a:pt x="240446" y="3423754"/>
                  </a:lnTo>
                  <a:lnTo>
                    <a:pt x="199525" y="3404982"/>
                  </a:lnTo>
                  <a:lnTo>
                    <a:pt x="161413" y="3381636"/>
                  </a:lnTo>
                  <a:lnTo>
                    <a:pt x="126464" y="3354070"/>
                  </a:lnTo>
                  <a:lnTo>
                    <a:pt x="95029" y="3322635"/>
                  </a:lnTo>
                  <a:lnTo>
                    <a:pt x="67463" y="3287686"/>
                  </a:lnTo>
                  <a:lnTo>
                    <a:pt x="44117" y="3249574"/>
                  </a:lnTo>
                  <a:lnTo>
                    <a:pt x="25345" y="3208652"/>
                  </a:lnTo>
                  <a:lnTo>
                    <a:pt x="11499" y="3165275"/>
                  </a:lnTo>
                  <a:lnTo>
                    <a:pt x="2933" y="3119793"/>
                  </a:lnTo>
                  <a:lnTo>
                    <a:pt x="0" y="3072561"/>
                  </a:lnTo>
                  <a:lnTo>
                    <a:pt x="0" y="376538"/>
                  </a:lnTo>
                  <a:lnTo>
                    <a:pt x="2933" y="329306"/>
                  </a:lnTo>
                  <a:lnTo>
                    <a:pt x="11499" y="283824"/>
                  </a:lnTo>
                  <a:lnTo>
                    <a:pt x="25345" y="240446"/>
                  </a:lnTo>
                  <a:lnTo>
                    <a:pt x="44117" y="199525"/>
                  </a:lnTo>
                  <a:lnTo>
                    <a:pt x="67463" y="161413"/>
                  </a:lnTo>
                  <a:lnTo>
                    <a:pt x="95029" y="126464"/>
                  </a:lnTo>
                  <a:lnTo>
                    <a:pt x="126464" y="95029"/>
                  </a:lnTo>
                  <a:lnTo>
                    <a:pt x="161413" y="67463"/>
                  </a:lnTo>
                  <a:lnTo>
                    <a:pt x="199525" y="44117"/>
                  </a:lnTo>
                  <a:lnTo>
                    <a:pt x="240446" y="25345"/>
                  </a:lnTo>
                  <a:lnTo>
                    <a:pt x="283824" y="11499"/>
                  </a:lnTo>
                  <a:lnTo>
                    <a:pt x="329306" y="2933"/>
                  </a:lnTo>
                  <a:lnTo>
                    <a:pt x="376538" y="0"/>
                  </a:lnTo>
                  <a:lnTo>
                    <a:pt x="3668661" y="0"/>
                  </a:lnTo>
                  <a:lnTo>
                    <a:pt x="3718155" y="3265"/>
                  </a:lnTo>
                  <a:lnTo>
                    <a:pt x="3766382" y="12900"/>
                  </a:lnTo>
                  <a:lnTo>
                    <a:pt x="3812756" y="28662"/>
                  </a:lnTo>
                  <a:lnTo>
                    <a:pt x="3856693" y="50308"/>
                  </a:lnTo>
                  <a:lnTo>
                    <a:pt x="3897608" y="77597"/>
                  </a:lnTo>
                  <a:lnTo>
                    <a:pt x="3934914" y="110285"/>
                  </a:lnTo>
                  <a:lnTo>
                    <a:pt x="3967602" y="147591"/>
                  </a:lnTo>
                  <a:lnTo>
                    <a:pt x="3994891" y="188506"/>
                  </a:lnTo>
                  <a:lnTo>
                    <a:pt x="4016537" y="232443"/>
                  </a:lnTo>
                  <a:lnTo>
                    <a:pt x="4032299" y="278817"/>
                  </a:lnTo>
                  <a:lnTo>
                    <a:pt x="4041934" y="327044"/>
                  </a:lnTo>
                  <a:lnTo>
                    <a:pt x="4045199" y="376538"/>
                  </a:lnTo>
                  <a:lnTo>
                    <a:pt x="4045199" y="3072561"/>
                  </a:lnTo>
                  <a:lnTo>
                    <a:pt x="4042266" y="3119793"/>
                  </a:lnTo>
                  <a:lnTo>
                    <a:pt x="4033700" y="3165275"/>
                  </a:lnTo>
                  <a:lnTo>
                    <a:pt x="4019854" y="3208652"/>
                  </a:lnTo>
                  <a:lnTo>
                    <a:pt x="4001082" y="3249574"/>
                  </a:lnTo>
                  <a:lnTo>
                    <a:pt x="3977736" y="3287686"/>
                  </a:lnTo>
                  <a:lnTo>
                    <a:pt x="3950170" y="3322635"/>
                  </a:lnTo>
                  <a:lnTo>
                    <a:pt x="3918735" y="3354070"/>
                  </a:lnTo>
                  <a:lnTo>
                    <a:pt x="3883786" y="3381636"/>
                  </a:lnTo>
                  <a:lnTo>
                    <a:pt x="3845674" y="3404982"/>
                  </a:lnTo>
                  <a:lnTo>
                    <a:pt x="3804752" y="3423754"/>
                  </a:lnTo>
                  <a:lnTo>
                    <a:pt x="3761375" y="3437600"/>
                  </a:lnTo>
                  <a:lnTo>
                    <a:pt x="3715893" y="3446166"/>
                  </a:lnTo>
                  <a:lnTo>
                    <a:pt x="3668661" y="3449099"/>
                  </a:lnTo>
                  <a:close/>
                </a:path>
              </a:pathLst>
            </a:custGeom>
            <a:solidFill>
              <a:srgbClr val="D9D1E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800" b="1" spc="-10" dirty="0">
                <a:solidFill>
                  <a:srgbClr val="181B62"/>
                </a:solidFill>
                <a:latin typeface="Calibri"/>
              </a:rPr>
              <a:t>Great Expectations (v0.18.22)</a:t>
            </a:r>
          </a:p>
          <a:p>
            <a:pPr>
              <a:lnSpc>
                <a:spcPts val="19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Showcase validation on FactAISurvey: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survey_key must not be null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task_automation_rate between 0-100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jobs_displaced must be ≥ 0</a:t>
            </a:r>
          </a:p>
          <a:p>
            <a:pPr>
              <a:lnSpc>
                <a:spcPts val="1900"/>
              </a:lnSpc>
              <a:buNone/>
            </a:pPr>
            <a:r>
              <a:rPr sz="1400" b="1" spc="-10" dirty="0">
                <a:solidFill>
                  <a:srgbClr val="C51A41"/>
                </a:solidFill>
                <a:latin typeface="Calibri"/>
              </a:rPr>
              <a:t>Result: 25 total tests — All PASS ✅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26" rIns="0" bIns="0" rtlCol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sz="3200" b="1" spc="-10" dirty="0">
                <a:solidFill>
                  <a:srgbClr val="181B62"/>
                </a:solidFill>
                <a:latin typeface="Calibri"/>
              </a:rPr>
              <a:t>Key Findings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>
              <a:lnSpc>
                <a:spcPts val="2000"/>
              </a:lnSpc>
              <a:buNone/>
            </a:pPr>
            <a:r>
              <a:rPr sz="1800" b="1" spc="-10" dirty="0">
                <a:solidFill>
                  <a:srgbClr val="C51A41"/>
                </a:solidFill>
                <a:latin typeface="Calibri"/>
              </a:rPr>
              <a:t>1. Quarterly Trends</a:t>
            </a:r>
          </a:p>
          <a:p>
            <a:pPr marL="285750" indent="-28575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333333"/>
                </a:solidFill>
                <a:latin typeface="Calibri"/>
              </a:rPr>
              <a:t>Productivity and revenue growth trend upward as AI adoption matures across quarters.</a:t>
            </a:r>
          </a:p>
          <a:p>
            <a:pPr marL="285750" indent="-28575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333333"/>
                </a:solidFill>
                <a:latin typeface="Calibri"/>
              </a:rPr>
              <a:t>Task automation rate rises steadily from 2023 to 2026, indicating pipeline maturity.</a:t>
            </a:r>
          </a:p>
          <a:p>
            <a:pPr>
              <a:lnSpc>
                <a:spcPts val="2000"/>
              </a:lnSpc>
              <a:buNone/>
            </a:pPr>
            <a:r>
              <a:rPr sz="1800" b="1" spc="-10" dirty="0">
                <a:solidFill>
                  <a:srgbClr val="C51A41"/>
                </a:solidFill>
                <a:latin typeface="Calibri"/>
              </a:rPr>
              <a:t>2. Top Industries by AI ROI</a:t>
            </a:r>
          </a:p>
          <a:p>
            <a:pPr marL="285750" indent="-28575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333333"/>
                </a:solidFill>
                <a:latin typeface="Calibri"/>
              </a:rPr>
              <a:t>Healthcare, Finance, and Technology show highest avg AI ROI index.</a:t>
            </a:r>
          </a:p>
          <a:p>
            <a:pPr marL="285750" indent="-28575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333333"/>
                </a:solidFill>
                <a:latin typeface="Calibri"/>
              </a:rPr>
              <a:t>Automation rate varies significantly — Manufacturing leads in task automation.</a:t>
            </a:r>
          </a:p>
          <a:p>
            <a:pPr>
              <a:lnSpc>
                <a:spcPts val="2000"/>
              </a:lnSpc>
              <a:buNone/>
            </a:pPr>
            <a:r>
              <a:rPr sz="1800" b="1" spc="-10" dirty="0">
                <a:solidFill>
                  <a:srgbClr val="C51A41"/>
                </a:solidFill>
                <a:latin typeface="Calibri"/>
              </a:rPr>
              <a:t>3. Adoption Stage Segmentation</a:t>
            </a:r>
          </a:p>
          <a:p>
            <a:pPr marL="285750" indent="-28575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333333"/>
                </a:solidFill>
                <a:latin typeface="Calibri"/>
              </a:rPr>
              <a:t>Companies in Scaling and Transforming stages show 2-3x higher ROI vs Exploring.</a:t>
            </a:r>
          </a:p>
          <a:p>
            <a:pPr marL="285750" indent="-285750">
              <a:lnSpc>
                <a:spcPts val="2000"/>
              </a:lnSpc>
              <a:buChar char="•"/>
            </a:pPr>
            <a:r>
              <a:rPr sz="1400" spc="-10" dirty="0">
                <a:solidFill>
                  <a:srgbClr val="333333"/>
                </a:solidFill>
                <a:latin typeface="Calibri"/>
              </a:rPr>
              <a:t>Net jobs change turns positive at the Scaling stage — AI creates more than it displaces.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9150" y="629400"/>
            <a:ext cx="790124" cy="7901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60625" y="1489687"/>
            <a:ext cx="714224" cy="714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01899" y="2249437"/>
            <a:ext cx="644624" cy="6446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60625" y="2785824"/>
            <a:ext cx="714224" cy="71422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878525" y="3704050"/>
            <a:ext cx="891374" cy="89137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6226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3000" b="1" spc="-10" dirty="0">
                <a:solidFill>
                  <a:srgbClr val="181B62"/>
                </a:solidFill>
                <a:latin typeface="Calibri"/>
              </a:rPr>
              <a:t>Key Findings (cont.)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20825" y="1674815"/>
            <a:ext cx="2043430" cy="1870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500" spc="-10" dirty="0">
                <a:solidFill>
                  <a:srgbClr val="555555"/>
                </a:solidFill>
                <a:latin typeface="Calibri"/>
              </a:rPr>
              <a:t>Workforce Impact &amp; Regional Performance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2577" y="438150"/>
            <a:ext cx="3157200" cy="4434110"/>
            <a:chOff x="147950" y="775250"/>
            <a:chExt cx="3157200" cy="44341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950" y="775250"/>
              <a:ext cx="3157200" cy="4064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62601" y="956224"/>
              <a:ext cx="2700020" cy="4253136"/>
            </a:xfrm>
            <a:custGeom>
              <a:avLst/>
              <a:gdLst/>
              <a:ahLst/>
              <a:cxnLst/>
              <a:rect l="l" t="t" r="r" b="b"/>
              <a:pathLst>
                <a:path w="2700020" h="3608070">
                  <a:moveTo>
                    <a:pt x="2405240" y="3607499"/>
                  </a:moveTo>
                  <a:lnTo>
                    <a:pt x="294758" y="3607499"/>
                  </a:lnTo>
                  <a:lnTo>
                    <a:pt x="246947" y="3603642"/>
                  </a:lnTo>
                  <a:lnTo>
                    <a:pt x="201592" y="3592472"/>
                  </a:lnTo>
                  <a:lnTo>
                    <a:pt x="159300" y="3574599"/>
                  </a:lnTo>
                  <a:lnTo>
                    <a:pt x="120678" y="3550628"/>
                  </a:lnTo>
                  <a:lnTo>
                    <a:pt x="86332" y="3521167"/>
                  </a:lnTo>
                  <a:lnTo>
                    <a:pt x="56871" y="3486821"/>
                  </a:lnTo>
                  <a:lnTo>
                    <a:pt x="32900" y="3448199"/>
                  </a:lnTo>
                  <a:lnTo>
                    <a:pt x="15027" y="3405907"/>
                  </a:lnTo>
                  <a:lnTo>
                    <a:pt x="3857" y="3360552"/>
                  </a:lnTo>
                  <a:lnTo>
                    <a:pt x="0" y="3312740"/>
                  </a:lnTo>
                  <a:lnTo>
                    <a:pt x="0" y="294758"/>
                  </a:lnTo>
                  <a:lnTo>
                    <a:pt x="3857" y="246947"/>
                  </a:lnTo>
                  <a:lnTo>
                    <a:pt x="15027" y="201592"/>
                  </a:lnTo>
                  <a:lnTo>
                    <a:pt x="32900" y="159300"/>
                  </a:lnTo>
                  <a:lnTo>
                    <a:pt x="56871" y="120678"/>
                  </a:lnTo>
                  <a:lnTo>
                    <a:pt x="86332" y="86332"/>
                  </a:lnTo>
                  <a:lnTo>
                    <a:pt x="120678" y="56871"/>
                  </a:lnTo>
                  <a:lnTo>
                    <a:pt x="159300" y="32900"/>
                  </a:lnTo>
                  <a:lnTo>
                    <a:pt x="201592" y="15027"/>
                  </a:lnTo>
                  <a:lnTo>
                    <a:pt x="246947" y="3857"/>
                  </a:lnTo>
                  <a:lnTo>
                    <a:pt x="294758" y="0"/>
                  </a:lnTo>
                  <a:lnTo>
                    <a:pt x="2405240" y="0"/>
                  </a:lnTo>
                  <a:lnTo>
                    <a:pt x="2451629" y="3671"/>
                  </a:lnTo>
                  <a:lnTo>
                    <a:pt x="2496458" y="14469"/>
                  </a:lnTo>
                  <a:lnTo>
                    <a:pt x="2538935" y="32063"/>
                  </a:lnTo>
                  <a:lnTo>
                    <a:pt x="2578268" y="56127"/>
                  </a:lnTo>
                  <a:lnTo>
                    <a:pt x="2613666" y="86332"/>
                  </a:lnTo>
                  <a:lnTo>
                    <a:pt x="2643872" y="121731"/>
                  </a:lnTo>
                  <a:lnTo>
                    <a:pt x="2667936" y="161064"/>
                  </a:lnTo>
                  <a:lnTo>
                    <a:pt x="2685530" y="203541"/>
                  </a:lnTo>
                  <a:lnTo>
                    <a:pt x="2696328" y="248370"/>
                  </a:lnTo>
                  <a:lnTo>
                    <a:pt x="2699999" y="294758"/>
                  </a:lnTo>
                  <a:lnTo>
                    <a:pt x="2699999" y="3312740"/>
                  </a:lnTo>
                  <a:lnTo>
                    <a:pt x="2696142" y="3360552"/>
                  </a:lnTo>
                  <a:lnTo>
                    <a:pt x="2684972" y="3405907"/>
                  </a:lnTo>
                  <a:lnTo>
                    <a:pt x="2667099" y="3448199"/>
                  </a:lnTo>
                  <a:lnTo>
                    <a:pt x="2643128" y="3486821"/>
                  </a:lnTo>
                  <a:lnTo>
                    <a:pt x="2613667" y="3521167"/>
                  </a:lnTo>
                  <a:lnTo>
                    <a:pt x="2579321" y="3550628"/>
                  </a:lnTo>
                  <a:lnTo>
                    <a:pt x="2540699" y="3574599"/>
                  </a:lnTo>
                  <a:lnTo>
                    <a:pt x="2498407" y="3592472"/>
                  </a:lnTo>
                  <a:lnTo>
                    <a:pt x="2453052" y="3603642"/>
                  </a:lnTo>
                  <a:lnTo>
                    <a:pt x="2405240" y="3607499"/>
                  </a:lnTo>
                  <a:close/>
                </a:path>
              </a:pathLst>
            </a:custGeom>
            <a:solidFill>
              <a:srgbClr val="E7F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99648" y="735254"/>
            <a:ext cx="1615125" cy="256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700" b="1" spc="-10" dirty="0">
                <a:solidFill>
                  <a:srgbClr val="C51A41"/>
                </a:solidFill>
                <a:latin typeface="Calibri"/>
              </a:rPr>
              <a:t>Workforce Impact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5391" y="1953259"/>
            <a:ext cx="229616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Large enterprises displace more jobs but also create more — net effect is near-neutral.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SMEs show the best net jobs ratio relative to company size.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Reskilling investment correlates with positive net jobs change.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Companies with AI ethics committees show 18% lower job displacement rates.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3144573" y="619124"/>
            <a:ext cx="3218100" cy="4253136"/>
            <a:chOff x="3117050" y="619124"/>
            <a:chExt cx="3218100" cy="4253136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7050" y="806950"/>
              <a:ext cx="3218100" cy="40329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345649" y="619124"/>
              <a:ext cx="2760980" cy="4253136"/>
            </a:xfrm>
            <a:custGeom>
              <a:avLst/>
              <a:gdLst/>
              <a:ahLst/>
              <a:cxnLst/>
              <a:rect l="l" t="t" r="r" b="b"/>
              <a:pathLst>
                <a:path w="2760979" h="3576320">
                  <a:moveTo>
                    <a:pt x="2459492" y="3575699"/>
                  </a:moveTo>
                  <a:lnTo>
                    <a:pt x="301407" y="3575699"/>
                  </a:lnTo>
                  <a:lnTo>
                    <a:pt x="252517" y="3571755"/>
                  </a:lnTo>
                  <a:lnTo>
                    <a:pt x="206139" y="3560334"/>
                  </a:lnTo>
                  <a:lnTo>
                    <a:pt x="162893" y="3542057"/>
                  </a:lnTo>
                  <a:lnTo>
                    <a:pt x="123400" y="3517545"/>
                  </a:lnTo>
                  <a:lnTo>
                    <a:pt x="88280" y="3487419"/>
                  </a:lnTo>
                  <a:lnTo>
                    <a:pt x="58154" y="3452299"/>
                  </a:lnTo>
                  <a:lnTo>
                    <a:pt x="33642" y="3412806"/>
                  </a:lnTo>
                  <a:lnTo>
                    <a:pt x="15365" y="3369560"/>
                  </a:lnTo>
                  <a:lnTo>
                    <a:pt x="3944" y="3323182"/>
                  </a:lnTo>
                  <a:lnTo>
                    <a:pt x="0" y="3274292"/>
                  </a:lnTo>
                  <a:lnTo>
                    <a:pt x="0" y="301407"/>
                  </a:lnTo>
                  <a:lnTo>
                    <a:pt x="3944" y="252517"/>
                  </a:lnTo>
                  <a:lnTo>
                    <a:pt x="15365" y="206139"/>
                  </a:lnTo>
                  <a:lnTo>
                    <a:pt x="33642" y="162893"/>
                  </a:lnTo>
                  <a:lnTo>
                    <a:pt x="58154" y="123400"/>
                  </a:lnTo>
                  <a:lnTo>
                    <a:pt x="88280" y="88280"/>
                  </a:lnTo>
                  <a:lnTo>
                    <a:pt x="123400" y="58154"/>
                  </a:lnTo>
                  <a:lnTo>
                    <a:pt x="162893" y="33642"/>
                  </a:lnTo>
                  <a:lnTo>
                    <a:pt x="206139" y="15365"/>
                  </a:lnTo>
                  <a:lnTo>
                    <a:pt x="252517" y="3944"/>
                  </a:lnTo>
                  <a:lnTo>
                    <a:pt x="301407" y="0"/>
                  </a:lnTo>
                  <a:lnTo>
                    <a:pt x="2459492" y="0"/>
                  </a:lnTo>
                  <a:lnTo>
                    <a:pt x="2506927" y="3754"/>
                  </a:lnTo>
                  <a:lnTo>
                    <a:pt x="2552767" y="14795"/>
                  </a:lnTo>
                  <a:lnTo>
                    <a:pt x="2596202" y="32786"/>
                  </a:lnTo>
                  <a:lnTo>
                    <a:pt x="2636423" y="57393"/>
                  </a:lnTo>
                  <a:lnTo>
                    <a:pt x="2672619" y="88280"/>
                  </a:lnTo>
                  <a:lnTo>
                    <a:pt x="2703506" y="124476"/>
                  </a:lnTo>
                  <a:lnTo>
                    <a:pt x="2728113" y="164697"/>
                  </a:lnTo>
                  <a:lnTo>
                    <a:pt x="2746104" y="208132"/>
                  </a:lnTo>
                  <a:lnTo>
                    <a:pt x="2757145" y="253972"/>
                  </a:lnTo>
                  <a:lnTo>
                    <a:pt x="2760899" y="301407"/>
                  </a:lnTo>
                  <a:lnTo>
                    <a:pt x="2760899" y="3274292"/>
                  </a:lnTo>
                  <a:lnTo>
                    <a:pt x="2756955" y="3323182"/>
                  </a:lnTo>
                  <a:lnTo>
                    <a:pt x="2745534" y="3369560"/>
                  </a:lnTo>
                  <a:lnTo>
                    <a:pt x="2727257" y="3412806"/>
                  </a:lnTo>
                  <a:lnTo>
                    <a:pt x="2702745" y="3452299"/>
                  </a:lnTo>
                  <a:lnTo>
                    <a:pt x="2672619" y="3487419"/>
                  </a:lnTo>
                  <a:lnTo>
                    <a:pt x="2637499" y="3517545"/>
                  </a:lnTo>
                  <a:lnTo>
                    <a:pt x="2598006" y="3542057"/>
                  </a:lnTo>
                  <a:lnTo>
                    <a:pt x="2554760" y="3560334"/>
                  </a:lnTo>
                  <a:lnTo>
                    <a:pt x="2508382" y="3571755"/>
                  </a:lnTo>
                  <a:lnTo>
                    <a:pt x="2459492" y="35756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548376" y="2170942"/>
            <a:ext cx="2396490" cy="1168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North America and East Asia lead in AI ROI index.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Digital maturity index strongly predicts productivity improvement.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Europe shows highest regulatory compliance scores, slightly lower ROI.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Emerging markets (Southeast Asia, Africa) show fastest growth rate in adoption.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870602" y="1094869"/>
            <a:ext cx="4441190" cy="1079500"/>
            <a:chOff x="794400" y="1761550"/>
            <a:chExt cx="4441190" cy="1079500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400" y="1867175"/>
              <a:ext cx="807499" cy="80749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6383" y="1761550"/>
              <a:ext cx="1079024" cy="1079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45375" y="1867175"/>
              <a:ext cx="807499" cy="807499"/>
            </a:xfrm>
            <a:prstGeom prst="rect">
              <a:avLst/>
            </a:prstGeom>
          </p:spPr>
        </p:pic>
      </p:grp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19" name="object 12">
            <a:extLst>
              <a:ext uri="{FF2B5EF4-FFF2-40B4-BE49-F238E27FC236}">
                <a16:creationId xmlns:a16="http://schemas.microsoft.com/office/drawing/2014/main" id="{950661AC-89C5-8441-B5B0-ED6484BC710C}"/>
              </a:ext>
            </a:extLst>
          </p:cNvPr>
          <p:cNvSpPr txBox="1"/>
          <p:nvPr/>
        </p:nvSpPr>
        <p:spPr>
          <a:xfrm>
            <a:off x="3939652" y="772496"/>
            <a:ext cx="15728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700" b="1" spc="-10" dirty="0">
                <a:solidFill>
                  <a:srgbClr val="181B62"/>
                </a:solidFill>
                <a:latin typeface="Calibri"/>
              </a:rPr>
              <a:t>Regional Analysis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2426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3000" b="1" spc="-10" dirty="0">
                <a:solidFill>
                  <a:srgbClr val="181B62"/>
                </a:solidFill>
                <a:latin typeface="Calibri"/>
              </a:rPr>
              <a:t>Business Recommendations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0969" y="847636"/>
            <a:ext cx="6810456" cy="4010113"/>
            <a:chOff x="243462" y="1117777"/>
            <a:chExt cx="6810456" cy="3676702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75216" y="1117777"/>
              <a:ext cx="4878702" cy="149784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3462" y="2983688"/>
              <a:ext cx="2092113" cy="1810791"/>
            </a:xfrm>
            <a:custGeom>
              <a:avLst/>
              <a:gdLst/>
              <a:ahLst/>
              <a:cxnLst/>
              <a:rect l="l" t="t" r="r" b="b"/>
              <a:pathLst>
                <a:path w="1899920" h="1107439">
                  <a:moveTo>
                    <a:pt x="0" y="184553"/>
                  </a:moveTo>
                  <a:lnTo>
                    <a:pt x="6592" y="135491"/>
                  </a:lnTo>
                  <a:lnTo>
                    <a:pt x="25196" y="91405"/>
                  </a:lnTo>
                  <a:lnTo>
                    <a:pt x="54054" y="54054"/>
                  </a:lnTo>
                  <a:lnTo>
                    <a:pt x="91405" y="25196"/>
                  </a:lnTo>
                  <a:lnTo>
                    <a:pt x="135492" y="6592"/>
                  </a:lnTo>
                  <a:lnTo>
                    <a:pt x="184553" y="0"/>
                  </a:lnTo>
                  <a:lnTo>
                    <a:pt x="1714746" y="0"/>
                  </a:lnTo>
                  <a:lnTo>
                    <a:pt x="1785371" y="14048"/>
                  </a:lnTo>
                  <a:lnTo>
                    <a:pt x="1845245" y="54054"/>
                  </a:lnTo>
                  <a:lnTo>
                    <a:pt x="1885251" y="113928"/>
                  </a:lnTo>
                  <a:lnTo>
                    <a:pt x="1899299" y="184553"/>
                  </a:lnTo>
                  <a:lnTo>
                    <a:pt x="1899299" y="922746"/>
                  </a:lnTo>
                  <a:lnTo>
                    <a:pt x="1892707" y="971808"/>
                  </a:lnTo>
                  <a:lnTo>
                    <a:pt x="1874103" y="1015894"/>
                  </a:lnTo>
                  <a:lnTo>
                    <a:pt x="1845245" y="1053245"/>
                  </a:lnTo>
                  <a:lnTo>
                    <a:pt x="1807894" y="1082103"/>
                  </a:lnTo>
                  <a:lnTo>
                    <a:pt x="1763807" y="1100707"/>
                  </a:lnTo>
                  <a:lnTo>
                    <a:pt x="1714746" y="1107299"/>
                  </a:lnTo>
                  <a:lnTo>
                    <a:pt x="184553" y="1107299"/>
                  </a:lnTo>
                  <a:lnTo>
                    <a:pt x="135492" y="1100707"/>
                  </a:lnTo>
                  <a:lnTo>
                    <a:pt x="91405" y="1082103"/>
                  </a:lnTo>
                  <a:lnTo>
                    <a:pt x="54054" y="1053245"/>
                  </a:lnTo>
                  <a:lnTo>
                    <a:pt x="25196" y="1015894"/>
                  </a:lnTo>
                  <a:lnTo>
                    <a:pt x="6592" y="971808"/>
                  </a:lnTo>
                  <a:lnTo>
                    <a:pt x="0" y="922746"/>
                  </a:lnTo>
                  <a:lnTo>
                    <a:pt x="0" y="18455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51652" y="2910654"/>
            <a:ext cx="151892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500" b="1" spc="-10" dirty="0">
                <a:solidFill>
                  <a:srgbClr val="181B62"/>
                </a:solidFill>
                <a:latin typeface="Calibri"/>
              </a:rPr>
              <a:t>1. Prioritise AI Scaling</a:t>
            </a:r>
          </a:p>
          <a:p>
            <a:pPr>
              <a:lnSpc>
                <a:spcPts val="1900"/>
              </a:lnSpc>
              <a:buNone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Companies still in Exploring/Piloting stages should accelerate to Scaling to unlock ROI gains — data shows 2-3x improvement.</a:t>
            </a:r>
          </a:p>
        </p:txBody>
      </p:sp>
      <p:sp>
        <p:nvSpPr>
          <p:cNvPr id="7" name="object 7"/>
          <p:cNvSpPr/>
          <p:nvPr/>
        </p:nvSpPr>
        <p:spPr>
          <a:xfrm>
            <a:off x="2550799" y="2882752"/>
            <a:ext cx="2026285" cy="1974997"/>
          </a:xfrm>
          <a:custGeom>
            <a:avLst/>
            <a:gdLst/>
            <a:ahLst/>
            <a:cxnLst/>
            <a:rect l="l" t="t" r="r" b="b"/>
            <a:pathLst>
              <a:path w="2026285" h="1348739">
                <a:moveTo>
                  <a:pt x="0" y="224704"/>
                </a:moveTo>
                <a:lnTo>
                  <a:pt x="4565" y="179418"/>
                </a:lnTo>
                <a:lnTo>
                  <a:pt x="17658" y="137239"/>
                </a:lnTo>
                <a:lnTo>
                  <a:pt x="38376" y="99070"/>
                </a:lnTo>
                <a:lnTo>
                  <a:pt x="65814" y="65814"/>
                </a:lnTo>
                <a:lnTo>
                  <a:pt x="99070" y="38375"/>
                </a:lnTo>
                <a:lnTo>
                  <a:pt x="137239" y="17658"/>
                </a:lnTo>
                <a:lnTo>
                  <a:pt x="179418" y="4565"/>
                </a:lnTo>
                <a:lnTo>
                  <a:pt x="224704" y="0"/>
                </a:lnTo>
                <a:lnTo>
                  <a:pt x="1801495" y="0"/>
                </a:lnTo>
                <a:lnTo>
                  <a:pt x="1845537" y="4357"/>
                </a:lnTo>
                <a:lnTo>
                  <a:pt x="1887486" y="17104"/>
                </a:lnTo>
                <a:lnTo>
                  <a:pt x="1926161" y="37753"/>
                </a:lnTo>
                <a:lnTo>
                  <a:pt x="1960385" y="65814"/>
                </a:lnTo>
                <a:lnTo>
                  <a:pt x="1988446" y="100038"/>
                </a:lnTo>
                <a:lnTo>
                  <a:pt x="2009095" y="138713"/>
                </a:lnTo>
                <a:lnTo>
                  <a:pt x="2021842" y="180662"/>
                </a:lnTo>
                <a:lnTo>
                  <a:pt x="2026199" y="224704"/>
                </a:lnTo>
                <a:lnTo>
                  <a:pt x="2026199" y="1123495"/>
                </a:lnTo>
                <a:lnTo>
                  <a:pt x="2021634" y="1168781"/>
                </a:lnTo>
                <a:lnTo>
                  <a:pt x="2008541" y="1210960"/>
                </a:lnTo>
                <a:lnTo>
                  <a:pt x="1987824" y="1249129"/>
                </a:lnTo>
                <a:lnTo>
                  <a:pt x="1960385" y="1282385"/>
                </a:lnTo>
                <a:lnTo>
                  <a:pt x="1927129" y="1309824"/>
                </a:lnTo>
                <a:lnTo>
                  <a:pt x="1888960" y="1330541"/>
                </a:lnTo>
                <a:lnTo>
                  <a:pt x="1846781" y="1343634"/>
                </a:lnTo>
                <a:lnTo>
                  <a:pt x="1801495" y="1348199"/>
                </a:lnTo>
                <a:lnTo>
                  <a:pt x="224704" y="1348199"/>
                </a:lnTo>
                <a:lnTo>
                  <a:pt x="179418" y="1343634"/>
                </a:lnTo>
                <a:lnTo>
                  <a:pt x="137239" y="1330541"/>
                </a:lnTo>
                <a:lnTo>
                  <a:pt x="99070" y="1309824"/>
                </a:lnTo>
                <a:lnTo>
                  <a:pt x="65814" y="1282385"/>
                </a:lnTo>
                <a:lnTo>
                  <a:pt x="38376" y="1249129"/>
                </a:lnTo>
                <a:lnTo>
                  <a:pt x="17658" y="1210960"/>
                </a:lnTo>
                <a:lnTo>
                  <a:pt x="4565" y="1168781"/>
                </a:lnTo>
                <a:lnTo>
                  <a:pt x="0" y="1123495"/>
                </a:lnTo>
                <a:lnTo>
                  <a:pt x="0" y="224704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776496" y="2937573"/>
            <a:ext cx="1597025" cy="1016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500" b="1" spc="-10" dirty="0">
                <a:solidFill>
                  <a:srgbClr val="181B62"/>
                </a:solidFill>
                <a:latin typeface="Calibri"/>
              </a:rPr>
              <a:t>2. Invest in Reskilling</a:t>
            </a:r>
          </a:p>
          <a:p>
            <a:pPr>
              <a:lnSpc>
                <a:spcPts val="1900"/>
              </a:lnSpc>
              <a:buNone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Every $1 spent on reskilling correlates with reduced net job displacement. Protect talent while automating.</a:t>
            </a:r>
          </a:p>
        </p:txBody>
      </p:sp>
      <p:sp>
        <p:nvSpPr>
          <p:cNvPr id="9" name="object 9"/>
          <p:cNvSpPr/>
          <p:nvPr/>
        </p:nvSpPr>
        <p:spPr>
          <a:xfrm>
            <a:off x="4730999" y="2882752"/>
            <a:ext cx="1962785" cy="1974997"/>
          </a:xfrm>
          <a:custGeom>
            <a:avLst/>
            <a:gdLst/>
            <a:ahLst/>
            <a:cxnLst/>
            <a:rect l="l" t="t" r="r" b="b"/>
            <a:pathLst>
              <a:path w="1962784" h="1107439">
                <a:moveTo>
                  <a:pt x="0" y="184553"/>
                </a:moveTo>
                <a:lnTo>
                  <a:pt x="6592" y="135491"/>
                </a:lnTo>
                <a:lnTo>
                  <a:pt x="25196" y="91405"/>
                </a:lnTo>
                <a:lnTo>
                  <a:pt x="54054" y="54054"/>
                </a:lnTo>
                <a:lnTo>
                  <a:pt x="91405" y="25196"/>
                </a:lnTo>
                <a:lnTo>
                  <a:pt x="135491" y="6592"/>
                </a:lnTo>
                <a:lnTo>
                  <a:pt x="184553" y="0"/>
                </a:lnTo>
                <a:lnTo>
                  <a:pt x="1777746" y="0"/>
                </a:lnTo>
                <a:lnTo>
                  <a:pt x="1848371" y="14048"/>
                </a:lnTo>
                <a:lnTo>
                  <a:pt x="1908244" y="54054"/>
                </a:lnTo>
                <a:lnTo>
                  <a:pt x="1948251" y="113928"/>
                </a:lnTo>
                <a:lnTo>
                  <a:pt x="1962299" y="184553"/>
                </a:lnTo>
                <a:lnTo>
                  <a:pt x="1962299" y="922746"/>
                </a:lnTo>
                <a:lnTo>
                  <a:pt x="1955707" y="971808"/>
                </a:lnTo>
                <a:lnTo>
                  <a:pt x="1937103" y="1015894"/>
                </a:lnTo>
                <a:lnTo>
                  <a:pt x="1908245" y="1053245"/>
                </a:lnTo>
                <a:lnTo>
                  <a:pt x="1870894" y="1082103"/>
                </a:lnTo>
                <a:lnTo>
                  <a:pt x="1826808" y="1100707"/>
                </a:lnTo>
                <a:lnTo>
                  <a:pt x="1777746" y="1107299"/>
                </a:lnTo>
                <a:lnTo>
                  <a:pt x="184553" y="1107299"/>
                </a:lnTo>
                <a:lnTo>
                  <a:pt x="135491" y="1100707"/>
                </a:lnTo>
                <a:lnTo>
                  <a:pt x="91405" y="1082103"/>
                </a:lnTo>
                <a:lnTo>
                  <a:pt x="54054" y="1053245"/>
                </a:lnTo>
                <a:lnTo>
                  <a:pt x="25196" y="1015894"/>
                </a:lnTo>
                <a:lnTo>
                  <a:pt x="6592" y="971808"/>
                </a:lnTo>
                <a:lnTo>
                  <a:pt x="0" y="922746"/>
                </a:lnTo>
                <a:lnTo>
                  <a:pt x="0" y="18455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972616" y="2921606"/>
            <a:ext cx="147955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500" b="1" spc="-10" dirty="0">
                <a:solidFill>
                  <a:srgbClr val="181B62"/>
                </a:solidFill>
                <a:latin typeface="Calibri"/>
              </a:rPr>
              <a:t>3. Target High-ROI Use Cases</a:t>
            </a:r>
          </a:p>
          <a:p>
            <a:pPr>
              <a:lnSpc>
                <a:spcPts val="1900"/>
              </a:lnSpc>
              <a:buNone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Focus AI budgets on Customer Service, Finance, and Operations — these show highest ai_roi_index across all industries.</a:t>
            </a:r>
          </a:p>
        </p:txBody>
      </p:sp>
      <p:sp>
        <p:nvSpPr>
          <p:cNvPr id="11" name="object 11"/>
          <p:cNvSpPr/>
          <p:nvPr/>
        </p:nvSpPr>
        <p:spPr>
          <a:xfrm>
            <a:off x="6941500" y="2882752"/>
            <a:ext cx="2026285" cy="1974997"/>
          </a:xfrm>
          <a:custGeom>
            <a:avLst/>
            <a:gdLst/>
            <a:ahLst/>
            <a:cxnLst/>
            <a:rect l="l" t="t" r="r" b="b"/>
            <a:pathLst>
              <a:path w="2026284" h="1069339">
                <a:moveTo>
                  <a:pt x="0" y="178203"/>
                </a:moveTo>
                <a:lnTo>
                  <a:pt x="6365" y="130829"/>
                </a:lnTo>
                <a:lnTo>
                  <a:pt x="24330" y="88260"/>
                </a:lnTo>
                <a:lnTo>
                  <a:pt x="52194" y="52194"/>
                </a:lnTo>
                <a:lnTo>
                  <a:pt x="88260" y="24330"/>
                </a:lnTo>
                <a:lnTo>
                  <a:pt x="130830" y="6365"/>
                </a:lnTo>
                <a:lnTo>
                  <a:pt x="178203" y="0"/>
                </a:lnTo>
                <a:lnTo>
                  <a:pt x="1847995" y="0"/>
                </a:lnTo>
                <a:lnTo>
                  <a:pt x="1916191" y="13564"/>
                </a:lnTo>
                <a:lnTo>
                  <a:pt x="1974005" y="52194"/>
                </a:lnTo>
                <a:lnTo>
                  <a:pt x="2012635" y="110008"/>
                </a:lnTo>
                <a:lnTo>
                  <a:pt x="2026199" y="178203"/>
                </a:lnTo>
                <a:lnTo>
                  <a:pt x="2026199" y="890996"/>
                </a:lnTo>
                <a:lnTo>
                  <a:pt x="2019834" y="938370"/>
                </a:lnTo>
                <a:lnTo>
                  <a:pt x="2001869" y="980939"/>
                </a:lnTo>
                <a:lnTo>
                  <a:pt x="1974005" y="1017005"/>
                </a:lnTo>
                <a:lnTo>
                  <a:pt x="1937939" y="1044869"/>
                </a:lnTo>
                <a:lnTo>
                  <a:pt x="1895369" y="1062834"/>
                </a:lnTo>
                <a:lnTo>
                  <a:pt x="1847995" y="1069199"/>
                </a:lnTo>
                <a:lnTo>
                  <a:pt x="178203" y="1069199"/>
                </a:lnTo>
                <a:lnTo>
                  <a:pt x="130830" y="1062834"/>
                </a:lnTo>
                <a:lnTo>
                  <a:pt x="88260" y="1044869"/>
                </a:lnTo>
                <a:lnTo>
                  <a:pt x="52194" y="1017005"/>
                </a:lnTo>
                <a:lnTo>
                  <a:pt x="24330" y="980939"/>
                </a:lnTo>
                <a:lnTo>
                  <a:pt x="6365" y="938370"/>
                </a:lnTo>
                <a:lnTo>
                  <a:pt x="0" y="890996"/>
                </a:lnTo>
                <a:lnTo>
                  <a:pt x="0" y="178203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239000" y="2921606"/>
            <a:ext cx="1704975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500" b="1" spc="-10" dirty="0">
                <a:solidFill>
                  <a:srgbClr val="181B62"/>
                </a:solidFill>
                <a:latin typeface="Calibri"/>
              </a:rPr>
              <a:t>4. Establish AI Governance Early</a:t>
            </a:r>
          </a:p>
          <a:p>
            <a:pPr>
              <a:lnSpc>
                <a:spcPts val="1900"/>
              </a:lnSpc>
              <a:buNone/>
            </a:pPr>
            <a:r>
              <a:rPr sz="1200" spc="-10" dirty="0">
                <a:solidFill>
                  <a:srgbClr val="333333"/>
                </a:solidFill>
                <a:latin typeface="Calibri"/>
              </a:rPr>
              <a:t>Companies with AI ethics committees show better long-term compliance scores and lower failure rates — build governance now.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1447800" y="2456351"/>
            <a:ext cx="6172200" cy="426402"/>
            <a:chOff x="1447800" y="2456351"/>
            <a:chExt cx="6172200" cy="426402"/>
          </a:xfrm>
        </p:grpSpPr>
        <p:sp>
          <p:nvSpPr>
            <p:cNvPr id="14" name="object 14"/>
            <p:cNvSpPr/>
            <p:nvPr/>
          </p:nvSpPr>
          <p:spPr>
            <a:xfrm>
              <a:off x="1447800" y="2456352"/>
              <a:ext cx="1535902" cy="422936"/>
            </a:xfrm>
            <a:custGeom>
              <a:avLst/>
              <a:gdLst/>
              <a:ahLst/>
              <a:cxnLst/>
              <a:rect l="l" t="t" r="r" b="b"/>
              <a:pathLst>
                <a:path w="1625600" h="788670">
                  <a:moveTo>
                    <a:pt x="1624985" y="0"/>
                  </a:moveTo>
                  <a:lnTo>
                    <a:pt x="0" y="788646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810000" y="2456351"/>
              <a:ext cx="322424" cy="426401"/>
            </a:xfrm>
            <a:custGeom>
              <a:avLst/>
              <a:gdLst/>
              <a:ahLst/>
              <a:cxnLst/>
              <a:rect l="l" t="t" r="r" b="b"/>
              <a:pathLst>
                <a:path w="518160" h="767079">
                  <a:moveTo>
                    <a:pt x="517905" y="0"/>
                  </a:moveTo>
                  <a:lnTo>
                    <a:pt x="0" y="766545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lnSpc>
                  <a:spcPts val="1900"/>
                </a:lnSpc>
                <a:buNone/>
              </a:pPr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224011" y="2456352"/>
              <a:ext cx="338590" cy="422936"/>
            </a:xfrm>
            <a:custGeom>
              <a:avLst/>
              <a:gdLst/>
              <a:ahLst/>
              <a:cxnLst/>
              <a:rect l="l" t="t" r="r" b="b"/>
              <a:pathLst>
                <a:path w="433704" h="766444">
                  <a:moveTo>
                    <a:pt x="0" y="0"/>
                  </a:moveTo>
                  <a:lnTo>
                    <a:pt x="433270" y="766252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lnSpc>
                  <a:spcPts val="1900"/>
                </a:lnSpc>
                <a:buNone/>
              </a:pPr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388899" y="2456351"/>
              <a:ext cx="1231101" cy="426402"/>
            </a:xfrm>
            <a:custGeom>
              <a:avLst/>
              <a:gdLst/>
              <a:ahLst/>
              <a:cxnLst/>
              <a:rect l="l" t="t" r="r" b="b"/>
              <a:pathLst>
                <a:path w="1516379" h="852804">
                  <a:moveTo>
                    <a:pt x="0" y="0"/>
                  </a:moveTo>
                  <a:lnTo>
                    <a:pt x="1515882" y="852193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pPr>
                <a:lnSpc>
                  <a:spcPts val="1900"/>
                </a:lnSpc>
                <a:buNone/>
              </a:pPr>
              <a:endParaRPr/>
            </a:p>
          </p:txBody>
        </p:sp>
      </p:grp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300" y="1572276"/>
            <a:ext cx="4057200" cy="3403474"/>
            <a:chOff x="200300" y="1572276"/>
            <a:chExt cx="4057200" cy="340347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0300" y="1992550"/>
              <a:ext cx="4057200" cy="29832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68166" y="1572276"/>
              <a:ext cx="3685792" cy="3235942"/>
            </a:xfrm>
            <a:custGeom>
              <a:avLst/>
              <a:gdLst/>
              <a:ahLst/>
              <a:cxnLst/>
              <a:rect l="l" t="t" r="r" b="b"/>
              <a:pathLst>
                <a:path w="3600450" h="2526029">
                  <a:moveTo>
                    <a:pt x="3324236" y="2525999"/>
                  </a:moveTo>
                  <a:lnTo>
                    <a:pt x="275763" y="2525999"/>
                  </a:lnTo>
                  <a:lnTo>
                    <a:pt x="226194" y="2521557"/>
                  </a:lnTo>
                  <a:lnTo>
                    <a:pt x="179540" y="2508747"/>
                  </a:lnTo>
                  <a:lnTo>
                    <a:pt x="136580" y="2488350"/>
                  </a:lnTo>
                  <a:lnTo>
                    <a:pt x="98092" y="2461143"/>
                  </a:lnTo>
                  <a:lnTo>
                    <a:pt x="64856" y="2427907"/>
                  </a:lnTo>
                  <a:lnTo>
                    <a:pt x="37649" y="2389419"/>
                  </a:lnTo>
                  <a:lnTo>
                    <a:pt x="17252" y="2346459"/>
                  </a:lnTo>
                  <a:lnTo>
                    <a:pt x="4442" y="2299805"/>
                  </a:lnTo>
                  <a:lnTo>
                    <a:pt x="0" y="2250236"/>
                  </a:lnTo>
                  <a:lnTo>
                    <a:pt x="0" y="275763"/>
                  </a:lnTo>
                  <a:lnTo>
                    <a:pt x="4442" y="226194"/>
                  </a:lnTo>
                  <a:lnTo>
                    <a:pt x="17252" y="179540"/>
                  </a:lnTo>
                  <a:lnTo>
                    <a:pt x="37649" y="136580"/>
                  </a:lnTo>
                  <a:lnTo>
                    <a:pt x="64856" y="98092"/>
                  </a:lnTo>
                  <a:lnTo>
                    <a:pt x="98092" y="64856"/>
                  </a:lnTo>
                  <a:lnTo>
                    <a:pt x="136580" y="37649"/>
                  </a:lnTo>
                  <a:lnTo>
                    <a:pt x="179540" y="17252"/>
                  </a:lnTo>
                  <a:lnTo>
                    <a:pt x="226194" y="4442"/>
                  </a:lnTo>
                  <a:lnTo>
                    <a:pt x="275763" y="0"/>
                  </a:lnTo>
                  <a:lnTo>
                    <a:pt x="3324236" y="0"/>
                  </a:lnTo>
                  <a:lnTo>
                    <a:pt x="3378286" y="5347"/>
                  </a:lnTo>
                  <a:lnTo>
                    <a:pt x="3429766" y="20991"/>
                  </a:lnTo>
                  <a:lnTo>
                    <a:pt x="3477230" y="46331"/>
                  </a:lnTo>
                  <a:lnTo>
                    <a:pt x="3519230" y="80769"/>
                  </a:lnTo>
                  <a:lnTo>
                    <a:pt x="3553668" y="122769"/>
                  </a:lnTo>
                  <a:lnTo>
                    <a:pt x="3579008" y="170233"/>
                  </a:lnTo>
                  <a:lnTo>
                    <a:pt x="3594652" y="221713"/>
                  </a:lnTo>
                  <a:lnTo>
                    <a:pt x="3599999" y="275763"/>
                  </a:lnTo>
                  <a:lnTo>
                    <a:pt x="3599999" y="2250236"/>
                  </a:lnTo>
                  <a:lnTo>
                    <a:pt x="3595557" y="2299805"/>
                  </a:lnTo>
                  <a:lnTo>
                    <a:pt x="3582747" y="2346459"/>
                  </a:lnTo>
                  <a:lnTo>
                    <a:pt x="3562350" y="2389419"/>
                  </a:lnTo>
                  <a:lnTo>
                    <a:pt x="3535143" y="2427907"/>
                  </a:lnTo>
                  <a:lnTo>
                    <a:pt x="3501907" y="2461143"/>
                  </a:lnTo>
                  <a:lnTo>
                    <a:pt x="3463419" y="2488350"/>
                  </a:lnTo>
                  <a:lnTo>
                    <a:pt x="3420459" y="2508747"/>
                  </a:lnTo>
                  <a:lnTo>
                    <a:pt x="3373805" y="2521557"/>
                  </a:lnTo>
                  <a:lnTo>
                    <a:pt x="3324236" y="2525999"/>
                  </a:lnTo>
                  <a:close/>
                </a:path>
              </a:pathLst>
            </a:custGeom>
            <a:solidFill>
              <a:srgbClr val="E7F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430524" y="271284"/>
            <a:ext cx="4375001" cy="29033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2800" b="1" spc="-10" dirty="0">
                <a:solidFill>
                  <a:srgbClr val="181B62"/>
                </a:solidFill>
                <a:latin typeface="Calibri"/>
              </a:rPr>
              <a:t>Tech Stack &amp; Risk Mitigation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744270" y="1969860"/>
            <a:ext cx="2969260" cy="2178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600" b="1" spc="-10" dirty="0">
                <a:solidFill>
                  <a:srgbClr val="C51A41"/>
                </a:solidFill>
                <a:latin typeface="Calibri"/>
              </a:rPr>
              <a:t>Tool Choices &amp; Why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BigQuery — serverless, scalable, SQL-native; no infra to manage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dbt — version-controlled SQL transforms, built-in testing, lineage docs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Python + pandas — flexible ingestion with chunked upload for large files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Great Expectations — industry-standard data quality framework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Git + GitHub — full audit trail of all code changes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4598678" y="1575177"/>
            <a:ext cx="4057200" cy="3233041"/>
            <a:chOff x="4576925" y="1992550"/>
            <a:chExt cx="4057200" cy="3233041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76925" y="1992550"/>
              <a:ext cx="4057200" cy="315094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4805525" y="1992550"/>
              <a:ext cx="3828600" cy="3233041"/>
            </a:xfrm>
            <a:custGeom>
              <a:avLst/>
              <a:gdLst/>
              <a:ahLst/>
              <a:cxnLst/>
              <a:rect l="l" t="t" r="r" b="b"/>
              <a:pathLst>
                <a:path w="3600450" h="2526029">
                  <a:moveTo>
                    <a:pt x="3324236" y="2525999"/>
                  </a:moveTo>
                  <a:lnTo>
                    <a:pt x="275763" y="2525999"/>
                  </a:lnTo>
                  <a:lnTo>
                    <a:pt x="226194" y="2521557"/>
                  </a:lnTo>
                  <a:lnTo>
                    <a:pt x="179540" y="2508747"/>
                  </a:lnTo>
                  <a:lnTo>
                    <a:pt x="136580" y="2488350"/>
                  </a:lnTo>
                  <a:lnTo>
                    <a:pt x="98092" y="2461143"/>
                  </a:lnTo>
                  <a:lnTo>
                    <a:pt x="64856" y="2427907"/>
                  </a:lnTo>
                  <a:lnTo>
                    <a:pt x="37649" y="2389419"/>
                  </a:lnTo>
                  <a:lnTo>
                    <a:pt x="17252" y="2346459"/>
                  </a:lnTo>
                  <a:lnTo>
                    <a:pt x="4442" y="2299805"/>
                  </a:lnTo>
                  <a:lnTo>
                    <a:pt x="0" y="2250236"/>
                  </a:lnTo>
                  <a:lnTo>
                    <a:pt x="0" y="275763"/>
                  </a:lnTo>
                  <a:lnTo>
                    <a:pt x="4442" y="226194"/>
                  </a:lnTo>
                  <a:lnTo>
                    <a:pt x="17252" y="179540"/>
                  </a:lnTo>
                  <a:lnTo>
                    <a:pt x="37649" y="136580"/>
                  </a:lnTo>
                  <a:lnTo>
                    <a:pt x="64856" y="98092"/>
                  </a:lnTo>
                  <a:lnTo>
                    <a:pt x="98092" y="64856"/>
                  </a:lnTo>
                  <a:lnTo>
                    <a:pt x="136580" y="37649"/>
                  </a:lnTo>
                  <a:lnTo>
                    <a:pt x="179540" y="17252"/>
                  </a:lnTo>
                  <a:lnTo>
                    <a:pt x="226194" y="4442"/>
                  </a:lnTo>
                  <a:lnTo>
                    <a:pt x="275763" y="0"/>
                  </a:lnTo>
                  <a:lnTo>
                    <a:pt x="3324236" y="0"/>
                  </a:lnTo>
                  <a:lnTo>
                    <a:pt x="3378286" y="5347"/>
                  </a:lnTo>
                  <a:lnTo>
                    <a:pt x="3429766" y="20991"/>
                  </a:lnTo>
                  <a:lnTo>
                    <a:pt x="3477230" y="46331"/>
                  </a:lnTo>
                  <a:lnTo>
                    <a:pt x="3519230" y="80769"/>
                  </a:lnTo>
                  <a:lnTo>
                    <a:pt x="3553668" y="122769"/>
                  </a:lnTo>
                  <a:lnTo>
                    <a:pt x="3579008" y="170233"/>
                  </a:lnTo>
                  <a:lnTo>
                    <a:pt x="3594652" y="221713"/>
                  </a:lnTo>
                  <a:lnTo>
                    <a:pt x="3599999" y="275763"/>
                  </a:lnTo>
                  <a:lnTo>
                    <a:pt x="3599999" y="2250236"/>
                  </a:lnTo>
                  <a:lnTo>
                    <a:pt x="3595557" y="2299805"/>
                  </a:lnTo>
                  <a:lnTo>
                    <a:pt x="3582747" y="2346459"/>
                  </a:lnTo>
                  <a:lnTo>
                    <a:pt x="3562350" y="2389419"/>
                  </a:lnTo>
                  <a:lnTo>
                    <a:pt x="3535143" y="2427907"/>
                  </a:lnTo>
                  <a:lnTo>
                    <a:pt x="3501907" y="2461143"/>
                  </a:lnTo>
                  <a:lnTo>
                    <a:pt x="3463419" y="2488350"/>
                  </a:lnTo>
                  <a:lnTo>
                    <a:pt x="3420459" y="2508747"/>
                  </a:lnTo>
                  <a:lnTo>
                    <a:pt x="3373805" y="2521557"/>
                  </a:lnTo>
                  <a:lnTo>
                    <a:pt x="3324236" y="2525999"/>
                  </a:lnTo>
                  <a:close/>
                </a:path>
              </a:pathLst>
            </a:custGeom>
            <a:solidFill>
              <a:srgbClr val="FCE4C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008940" y="1621453"/>
            <a:ext cx="3465276" cy="31600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1900"/>
              </a:lnSpc>
              <a:buNone/>
            </a:pPr>
            <a:r>
              <a:rPr sz="1600" b="1" spc="-10" dirty="0">
                <a:solidFill>
                  <a:srgbClr val="181B62"/>
                </a:solidFill>
                <a:latin typeface="Calibri"/>
              </a:rPr>
              <a:t>Risks &amp; Mitigation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Dataset is synthetic — findings directional, not prescriptive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777777"/>
                </a:solidFill>
                <a:latin typeface="Calibri"/>
              </a:rPr>
              <a:t>Mitigation: clearly label all insights as model-based estimates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BigQuery costs at scale — partitioning and clustering recommended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777777"/>
                </a:solidFill>
                <a:latin typeface="Calibri"/>
              </a:rPr>
              <a:t>Mitigation: add date partitioning to FactAISurvey in production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Schema drift over time — new survey fields may break staging</a:t>
            </a:r>
          </a:p>
          <a:p>
            <a:pPr marL="285750" indent="-285750">
              <a:lnSpc>
                <a:spcPts val="1900"/>
              </a:lnSpc>
              <a:buChar char="•"/>
            </a:pPr>
            <a:r>
              <a:rPr sz="1200" spc="-10" dirty="0">
                <a:solidFill>
                  <a:srgbClr val="777777"/>
                </a:solidFill>
                <a:latin typeface="Calibri"/>
              </a:rPr>
              <a:t>Mitigation: add dbt source freshness + schema change alerts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752600" y="760696"/>
            <a:ext cx="5387975" cy="787910"/>
            <a:chOff x="1785725" y="1127075"/>
            <a:chExt cx="5387975" cy="886460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85725" y="1127075"/>
              <a:ext cx="886349" cy="88634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7275" y="1127075"/>
              <a:ext cx="886349" cy="886349"/>
            </a:xfrm>
            <a:prstGeom prst="rect">
              <a:avLst/>
            </a:prstGeom>
          </p:spPr>
        </p:pic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91250" y="2165524"/>
            <a:ext cx="2719974" cy="27199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4000" b="1" spc="-10" dirty="0">
                <a:solidFill>
                  <a:srgbClr val="181B62"/>
                </a:solidFill>
                <a:latin typeface="Calibri"/>
              </a:rPr>
              <a:t>Thank You</a:t>
            </a:r>
          </a:p>
          <a:p>
            <a:pPr>
              <a:lnSpc>
                <a:spcPts val="2200"/>
              </a:lnSpc>
              <a:buNone/>
            </a:pPr>
            <a:r>
              <a:rPr sz="2400" spc="-10" dirty="0">
                <a:solidFill>
                  <a:srgbClr val="C51A4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pc="-10" dirty="0"/>
              <a:t>Copyright</a:t>
            </a:r>
            <a:r>
              <a:rPr spc="10" dirty="0"/>
              <a:t> </a:t>
            </a:r>
            <a:r>
              <a:rPr dirty="0"/>
              <a:t>©</a:t>
            </a:r>
            <a:r>
              <a:rPr spc="10" dirty="0"/>
              <a:t> </a:t>
            </a:r>
            <a:r>
              <a:rPr spc="-10" dirty="0"/>
              <a:t>2024</a:t>
            </a:r>
            <a:r>
              <a:rPr spc="10" dirty="0"/>
              <a:t> </a:t>
            </a:r>
            <a:r>
              <a:rPr spc="-10" dirty="0"/>
              <a:t>Nanyang</a:t>
            </a:r>
            <a:r>
              <a:rPr spc="-5" dirty="0"/>
              <a:t> </a:t>
            </a:r>
            <a:r>
              <a:rPr spc="-20" dirty="0"/>
              <a:t>Technological</a:t>
            </a:r>
            <a:r>
              <a:rPr spc="10" dirty="0"/>
              <a:t> </a:t>
            </a:r>
            <a:r>
              <a:rPr spc="-10" dirty="0"/>
              <a:t>University.</a:t>
            </a:r>
            <a:r>
              <a:rPr spc="-20" dirty="0"/>
              <a:t> </a:t>
            </a:r>
            <a:r>
              <a:rPr dirty="0"/>
              <a:t>All</a:t>
            </a:r>
            <a:r>
              <a:rPr spc="10" dirty="0"/>
              <a:t> </a:t>
            </a:r>
            <a:r>
              <a:rPr dirty="0"/>
              <a:t>rights</a:t>
            </a:r>
            <a:r>
              <a:rPr spc="10" dirty="0"/>
              <a:t> </a:t>
            </a:r>
            <a:r>
              <a:rPr spc="-10" dirty="0"/>
              <a:t>reserved.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8938" y="1650008"/>
            <a:ext cx="6037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ts val="22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GitHub: github.com/YOUR_USERNAME/ai-adoption-pipeline</a:t>
            </a:r>
          </a:p>
          <a:p>
            <a:pPr>
              <a:lnSpc>
                <a:spcPts val="2200"/>
              </a:lnSpc>
              <a:buNone/>
            </a:pPr>
            <a:r>
              <a:rPr sz="1300" spc="-10" dirty="0">
                <a:solidFill>
                  <a:srgbClr val="333333"/>
                </a:solidFill>
                <a:latin typeface="Calibri"/>
              </a:rPr>
              <a:t>Dataset: Kaggle — Global AI Adoption &amp; Workforce Impact</a:t>
            </a:r>
          </a:p>
          <a:p>
            <a:pPr>
              <a:lnSpc>
                <a:spcPts val="2200"/>
              </a:lnSpc>
              <a:buNone/>
            </a:pPr>
            <a:r>
              <a:rPr sz="1300" spc="-10" dirty="0">
                <a:solidFill>
                  <a:srgbClr val="555555"/>
                </a:solidFill>
                <a:latin typeface="Calibri"/>
              </a:rPr>
              <a:t>Stack: BigQuery · dbt · Python · Great Expectations · Jupyter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1069</Words>
  <Application>Microsoft Macintosh PowerPoint</Application>
  <PresentationFormat>On-screen Show (16:9)</PresentationFormat>
  <Paragraphs>126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Office Theme</vt:lpstr>
      <vt:lpstr>PowerPoint Presentation</vt:lpstr>
      <vt:lpstr>AI Adoption &amp; Workforce Impact Data Pipeline Project — Executive Presentation</vt:lpstr>
      <vt:lpstr>Agenda</vt:lpstr>
      <vt:lpstr>The Problem</vt:lpstr>
      <vt:lpstr>Pipeline Architecture</vt:lpstr>
      <vt:lpstr>Star Schema Design</vt:lpstr>
      <vt:lpstr>dbt Tests (schema.yml)</vt:lpstr>
      <vt:lpstr>Key Findings</vt:lpstr>
      <vt:lpstr>Key Findings (cont.)</vt:lpstr>
      <vt:lpstr>Business Recommendations</vt:lpstr>
      <vt:lpstr>Tech Stack &amp; Risk Mitigation</vt:lpstr>
      <vt:lpstr>Thank You Questions &amp; Discussion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2.1 - Intro to Big Data and Data Engineering</dc:title>
  <cp:lastModifiedBy>Microsoft Office User</cp:lastModifiedBy>
  <cp:revision>4</cp:revision>
  <dcterms:created xsi:type="dcterms:W3CDTF">2026-03-15T05:26:42Z</dcterms:created>
  <dcterms:modified xsi:type="dcterms:W3CDTF">2026-03-15T06:15:40Z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2026-03-15T00:00:00Z</vt:filetime>
  </property>
  <property fmtid="{D5CDD505-2E9C-101B-9397-08002B2CF9AE}" pid="3" name="Creator">
    <vt:lpwstr>Google</vt:lpwstr>
  </property>
  <property fmtid="{D5CDD505-2E9C-101B-9397-08002B2CF9AE}" pid="4" name="LastSaved">
    <vt:filetime>2026-03-15T00:00:00Z</vt:filetime>
  </property>
</Properties>
</file>